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2926080" cy="29260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RESEARCH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Using RFM Analysis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K-Means Clustering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an Online Retail Dataset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914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94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Agyapong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Marketing Analytics, Illinois Institute of Technology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 Project 1 — Consumer Behavior Research Portfolio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slides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202" y="744322"/>
            <a:ext cx="660197" cy="6601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658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173736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purchase frequency and monetary value represent a single dimension of customer behavior — or two distinct dimensions that reveal meaningful customer segments?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10424160" cy="1600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4370832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practice often assumes frequent buyers are automatically high-value customers. If that assumption is wrong, businesses risk over-investing in low-value repeat buyers while under-serving a smaller group of infrequent, high-value customers who disproportionately drive revenue.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WAS BUILT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Five-Step Analytical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83487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slides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756" y="205922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37206" y="1856232"/>
            <a:ext cx="457200" cy="457200"/>
          </a:xfrm>
          <a:prstGeom prst="ellipse">
            <a:avLst/>
          </a:prstGeom>
          <a:solidFill>
            <a:srgbClr val="5C3A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18982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189829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541,910 transactions → 397,885 after removing cancellations, invalid prices, missing IDs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730398" y="213055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537814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lides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82" y="2059229"/>
            <a:ext cx="590702" cy="5907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1533" y="1856232"/>
            <a:ext cx="457200" cy="457200"/>
          </a:xfrm>
          <a:prstGeom prst="ellipse">
            <a:avLst/>
          </a:prstGeom>
          <a:solidFill>
            <a:srgbClr val="5C3A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77286" y="2926080"/>
            <a:ext cx="18982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RFM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77286" y="3337560"/>
            <a:ext cx="189829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and Monetary value computed for 4,338 customers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84725" y="213055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692140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slides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2059229"/>
            <a:ext cx="590702" cy="5907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5859" y="1856232"/>
            <a:ext cx="457200" cy="457200"/>
          </a:xfrm>
          <a:prstGeom prst="ellipse">
            <a:avLst/>
          </a:prstGeom>
          <a:solidFill>
            <a:srgbClr val="5C3A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31613" y="2926080"/>
            <a:ext cx="18982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131613" y="3337560"/>
            <a:ext cx="189829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 tests whether Frequency and Monetary move together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039051" y="213055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846466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slides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735" y="2059229"/>
            <a:ext cx="590702" cy="5907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00186" y="1856232"/>
            <a:ext cx="457200" cy="457200"/>
          </a:xfrm>
          <a:prstGeom prst="ellipse">
            <a:avLst/>
          </a:prstGeom>
          <a:solidFill>
            <a:srgbClr val="5C3A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285939" y="2926080"/>
            <a:ext cx="18982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285939" y="3337560"/>
            <a:ext cx="189829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 groups customers by both dimensions jointly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193378" y="213055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10000793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/home/claude/slides/icons/net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062" y="2059229"/>
            <a:ext cx="590702" cy="5907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54512" y="1856232"/>
            <a:ext cx="457200" cy="457200"/>
          </a:xfrm>
          <a:prstGeom prst="ellipse">
            <a:avLst/>
          </a:prstGeom>
          <a:solidFill>
            <a:srgbClr val="5C3A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440266" y="2926080"/>
            <a:ext cx="18982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440266" y="3337560"/>
            <a:ext cx="189829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analysis + PCA confirm the segmentation is defensible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14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0.807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206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correlation: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× Monetary Value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14300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Overall Relationship—But Not the Whole Story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663440" y="242316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purchase more frequently also tend to spend substantially more overall — a strong, statistically significant relationship.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342900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5C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strong correlation only shows association — not that frequency and spending measure the same thing. Do meaningful sub-groups exist within that average relationship?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4572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clustering was used to test next 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Behaviorally Distinct Customer Segments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74920" cy="214884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965960"/>
            <a:ext cx="640080" cy="640080"/>
          </a:xfrm>
          <a:prstGeom prst="ellipse">
            <a:avLst/>
          </a:prstGeom>
          <a:solidFill>
            <a:srgbClr val="5C3A8E"/>
          </a:solidFill>
          <a:ln/>
        </p:spPr>
      </p:sp>
      <p:pic>
        <p:nvPicPr>
          <p:cNvPr id="6" name="Image 0" descr="/home/claude/slide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04277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476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/ One-Time Buyers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35000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2,075 customers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Frequency: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 orders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Monetary: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$307 spend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074920" cy="214884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5C3A8E"/>
          </a:solidFill>
          <a:ln/>
        </p:spPr>
      </p:sp>
      <p:pic>
        <p:nvPicPr>
          <p:cNvPr id="12" name="Image 1" descr="/home/claude/slide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204277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476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Repeat Customers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69480" y="235000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1,939 customers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4652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Frequency: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 orders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Monetary: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$1,768 spend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4114800"/>
            <a:ext cx="5074920" cy="214884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97280" y="4389120"/>
            <a:ext cx="640080" cy="64008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8" name="Image 2" descr="/home/claude/slides/icons/cr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446593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43708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High-Value Customers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920240" y="47731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 customers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97280" y="53492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Frequency: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 orders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Monetary: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$13,301 spend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72200" y="4114800"/>
            <a:ext cx="5074920" cy="214884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4" name="Image 3" descr="/home/claude/slides/icons/cr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4465930"/>
            <a:ext cx="486461" cy="4864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9480" y="43708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High-Value Outliers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269480" y="47731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customers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46520" y="53492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Frequency: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orders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Monetary: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$80,210 spend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5577840" cy="6858000"/>
          </a:xfrm>
          <a:prstGeom prst="rect">
            <a:avLst/>
          </a:prstGeom>
          <a:solidFill>
            <a:srgbClr val="F4F6FC"/>
          </a:solidFill>
          <a:ln/>
        </p:spPr>
      </p:sp>
      <p:pic>
        <p:nvPicPr>
          <p:cNvPr id="3" name="Image 0" descr="/home/claude/final-report/figures/pca_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502920"/>
            <a:ext cx="5303520" cy="5852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SPECTRUM, NOT SHARP GROUPS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14630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and PC2 together explain 86.9% of total variance. Segments separate primarily along PC1 — but the gradient is continuous, not sharply bounded.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5C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customer purchasing intensity varies smoothly across the base — the four clusters are useful, interpretable cuts through that spectrum, not naturally occurring, pre-existing groups.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8696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Implications for Marketing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slides/icons/c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64792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equate frequency with value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83080" y="2167128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minority of customers spend disproportionately relative to how often they purchase — frequency alone would miss them entirely.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200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slides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282696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182112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retention resources more precisely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783080" y="3584448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incentives and retention efforts benefit from accounting for Frequency and Monetary value jointly, not using either as a stand-in for the other.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slides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700016"/>
            <a:ext cx="521208" cy="521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599432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customer lifetime value models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783080" y="5001768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strategies built on frequency alone risk overlooking infrequent purchasers who generate substantial revenue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3657600" cy="36576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Full Research Report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7889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methodology, results, discussion, references, and reproducible R code are available on GitHub.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51760" y="3703320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37033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github.com/julia-agyapong/customer-segmentation-rfm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Agyapong  •  M.S. Marketing Analytics, Illinois Institute of Technology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2026-07-30T00:43:51Z</dcterms:created>
  <dcterms:modified xsi:type="dcterms:W3CDTF">2026-07-30T00:43:51Z</dcterms:modified>
</cp:coreProperties>
</file>